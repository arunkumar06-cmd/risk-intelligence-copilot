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10"/>
    <p:sldId id="257" r:id="rId11"/>
    <p:sldId id="258" r:id="rId9"/>
    <p:sldId id="259" r:id="rId8"/>
    <p:sldId id="260" r:id="rId7"/>
    <p:sldId id="261" r:id="rId6"/>
    <p:sldId id="262" r:id="rId16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Relationship Id="rId16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lide1_Google Shape;54;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890000"/>
            <a:ext cx="7863840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369A1"/>
                </a:solidFill>
              </a:defRPr>
            </a:pPr>
            <a:r>
              <a:t>CoCo CLI HACKATHON  •  GCC EDITION  •  PROTOTYPE SUBMISSION</a:t>
            </a:r>
          </a:p>
          <a:p>
            <a:pPr>
              <a:spcAft>
                <a:spcPts val="600"/>
              </a:spcAft>
              <a:defRPr sz="2800" b="1">
                <a:solidFill>
                  <a:srgbClr val="111827"/>
                </a:solidFill>
              </a:defRPr>
            </a:pPr>
            <a:r>
              <a:t>Risk, Fraud &amp; Regulatory Intelligence Copilot</a:t>
            </a:r>
          </a:p>
          <a:p>
            <a:pPr>
              <a:spcAft>
                <a:spcPts val="600"/>
              </a:spcAft>
              <a:defRPr sz="1600" b="0">
                <a:solidFill>
                  <a:srgbClr val="4B5563"/>
                </a:solidFill>
              </a:defRPr>
            </a:pPr>
            <a:r>
              <a:t>Banking / NBFC compliance — ask in English, get verified SQL + cited law + draft SAR; officer approves, every approval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57800"/>
            <a:ext cx="786384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11827"/>
                </a:solidFill>
              </a:defRPr>
            </a:pPr>
            <a:r>
              <a:t>Team Name :  Behelit      Problem Statement :  [PS-ID / Title]      Team Leader :  Arun Kumar      Team Size :  1 (solo)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lide3_Google Shape;69;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18000"/>
            <a:ext cx="7863840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369A1"/>
                </a:solidFill>
              </a:defRPr>
            </a:pPr>
            <a:r>
              <a:t>1  •  PROBLEM BRIEF</a:t>
            </a:r>
          </a:p>
          <a:p>
            <a:pPr>
              <a:spcAft>
                <a:spcPts val="600"/>
              </a:spcAft>
              <a:defRPr sz="2800" b="1">
                <a:solidFill>
                  <a:srgbClr val="111827"/>
                </a:solidFill>
              </a:defRPr>
            </a:pPr>
            <a:r>
              <a:t>Analysts drown in alerts. SARs take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22880"/>
            <a:ext cx="7863840" cy="27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Real problem:   </a:t>
            </a:r>
            <a:r>
              <a:rPr sz="1800">
                <a:solidFill>
                  <a:srgbClr val="111827"/>
                </a:solidFill>
              </a:rPr>
              <a:t>alert triage + rulebook lookup + SAR drafting is manual, slow, and citation-free — audit gaps risk fines (penalties).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Users:   </a:t>
            </a:r>
            <a:r>
              <a:rPr sz="1800">
                <a:solidFill>
                  <a:srgbClr val="111827"/>
                </a:solidFill>
              </a:rPr>
              <a:t>compliance analyst (triage) and compliance officer (approver) at banks / NBFCs.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Pain now:   </a:t>
            </a:r>
            <a:r>
              <a:rPr sz="1800">
                <a:solidFill>
                  <a:srgbClr val="111827"/>
                </a:solidFill>
              </a:rPr>
              <a:t>hand-written SQL, PDF rulebooks, copy-paste SARs, zero proof trail.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Fix:   </a:t>
            </a:r>
            <a:r>
              <a:rPr sz="1800">
                <a:solidFill>
                  <a:srgbClr val="111827"/>
                </a:solidFill>
              </a:rPr>
              <a:t>one chat: English question → safe SQL evidence + top-3 law cites + draft SAR; every approval (and denied try) logged.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lide3_Google Shape;69;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18000"/>
            <a:ext cx="7863840" cy="883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369A1"/>
                </a:solidFill>
              </a:defRPr>
            </a:pPr>
            <a:r>
              <a:t>2  •  ARCHITECTURE</a:t>
            </a:r>
          </a:p>
          <a:p>
            <a:pPr>
              <a:spcAft>
                <a:spcPts val="600"/>
              </a:spcAft>
              <a:defRPr sz="2400" b="1">
                <a:solidFill>
                  <a:srgbClr val="111827"/>
                </a:solidFill>
              </a:defRPr>
            </a:pPr>
            <a:r>
              <a:t>Signal → Evidence → Report, all inside Snowflake</a:t>
            </a:r>
          </a:p>
        </p:txBody>
      </p:sp>
      <p:pic>
        <p:nvPicPr>
          <p:cNvPr id="6" name="Picture 5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80" y="1441919"/>
            <a:ext cx="6506839" cy="30500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522000"/>
            <a:ext cx="78638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4B5563"/>
                </a:solidFill>
              </a:defRPr>
            </a:pPr>
            <a:r>
              <a:t>Data: structured (ACCOUNTS, TRANSACTIONS) + unstructured (policy rulebooks, embedded)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lide3_Google Shape;69;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18000"/>
            <a:ext cx="7863840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369A1"/>
                </a:solidFill>
              </a:defRPr>
            </a:pPr>
            <a:r>
              <a:t>3  •  HOW IT WORKS</a:t>
            </a:r>
          </a:p>
          <a:p>
            <a:pPr>
              <a:spcAft>
                <a:spcPts val="600"/>
              </a:spcAft>
              <a:defRPr sz="2800" b="1">
                <a:solidFill>
                  <a:srgbClr val="111827"/>
                </a:solidFill>
              </a:defRPr>
            </a:pPr>
            <a:r>
              <a:t>Three steps. Guarded. Human-approved.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22880"/>
            <a:ext cx="7863840" cy="334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Step 1 — Router:   </a:t>
            </a:r>
            <a:r>
              <a:rPr sz="1800">
                <a:solidFill>
                  <a:srgbClr val="111827"/>
                </a:solidFill>
              </a:rPr>
              <a:t>whole-word intent match + allow-list SQL templates with bound params (safe inputs); blocked words rejected.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Step 2 — Evidence + Law:   </a:t>
            </a:r>
            <a:r>
              <a:rPr sz="1800">
                <a:solidFill>
                  <a:srgbClr val="111827"/>
                </a:solidFill>
              </a:rPr>
              <a:t>Snowflake SQL signals plus AI_EMBED vector search (TOP-3 clauses, cosine match).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Step 3 — Report:   </a:t>
            </a:r>
            <a:r>
              <a:rPr sz="1800">
                <a:solidFill>
                  <a:srgbClr val="111827"/>
                </a:solidFill>
              </a:rPr>
              <a:t>AI_COMPLETE (claude-sonnet-5 primary, llama3.1-8b fallback, guardrails ON) writes a short SAR; officer MUST approve before save.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Trust built-in:   </a:t>
            </a:r>
            <a:r>
              <a:rPr sz="1800">
                <a:solidFill>
                  <a:srgbClr val="111827"/>
                </a:solidFill>
              </a:rPr>
              <a:t>officer allow-list (APP_OFFICERS), row locks + name masking, rate limits, prompt/result hashes (proof prints), QUERY_ID, denied-login + denied-approval audit.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lide3_Google Shape;69;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18000"/>
            <a:ext cx="7863840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369A1"/>
                </a:solidFill>
              </a:defRPr>
            </a:pPr>
            <a:r>
              <a:t>4  •  IMPACT</a:t>
            </a:r>
          </a:p>
          <a:p>
            <a:pPr>
              <a:spcAft>
                <a:spcPts val="600"/>
              </a:spcAft>
              <a:defRPr sz="2800" b="1">
                <a:solidFill>
                  <a:srgbClr val="111827"/>
                </a:solidFill>
              </a:defRPr>
            </a:pPr>
            <a:r>
              <a:t>Faster triage. Cited claims. Full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22880"/>
            <a:ext cx="786384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Measurable:   </a:t>
            </a:r>
            <a:r>
              <a:rPr sz="1800">
                <a:solidFill>
                  <a:srgbClr val="111827"/>
                </a:solidFill>
              </a:rPr>
              <a:t>goal: triage hours → minutes; every SAR line backed by evidence IDs + policy cites; every approved SAR logged with model + hashes.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Scale:   </a:t>
            </a:r>
            <a:r>
              <a:rPr sz="1800">
                <a:solidFill>
                  <a:srgbClr val="111827"/>
                </a:solidFill>
              </a:rPr>
              <a:t>any Snowflake bank schema — add tables, re-embed rulebooks, same 3-step flow; SiS-ready (container runtime, per-viewer officer check); not yet live-tested.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Beyond demo:   </a:t>
            </a:r>
            <a:r>
              <a:rPr sz="1800">
                <a:solidFill>
                  <a:srgbClr val="111827"/>
                </a:solidFill>
              </a:rPr>
              <a:t>real-time screening queue, multi-regulator packs (RBI / FinCEN / Basel), live Snowflake test run, SSO for local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lide3_Google Shape;69;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18000"/>
            <a:ext cx="7863840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369A1"/>
                </a:solidFill>
              </a:defRPr>
            </a:pPr>
            <a:r>
              <a:t>5  •  STACK &amp; REPO</a:t>
            </a:r>
          </a:p>
          <a:p>
            <a:pPr>
              <a:spcAft>
                <a:spcPts val="600"/>
              </a:spcAft>
              <a:defRPr sz="2800" b="1">
                <a:solidFill>
                  <a:srgbClr val="111827"/>
                </a:solidFill>
              </a:defRPr>
            </a:pPr>
            <a:r>
              <a:t>Snowflake trial parts. Open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22880"/>
            <a:ext cx="7863840" cy="306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Snowflake Trial:   </a:t>
            </a:r>
            <a:r>
              <a:rPr sz="1800">
                <a:solidFill>
                  <a:srgbClr val="111827"/>
                </a:solidFill>
              </a:rPr>
              <a:t>AI_EMBED (arctic-embed-m-v1.5) + AI_COMPLETE + VECTOR search. Self-service trial: AI features stay off until a credit card is added.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Models:   </a:t>
            </a:r>
            <a:r>
              <a:rPr sz="1800">
                <a:solidFill>
                  <a:srgbClr val="111827"/>
                </a:solidFill>
              </a:rPr>
              <a:t>claude-sonnet-5 primary, llama3.1-8b fallback, guardrails ON; Streamlit UI + Python connector locally, Snowflake's own session in SiS.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GitHub + live demo:   </a:t>
            </a:r>
            <a:r>
              <a:rPr sz="1800">
                <a:solidFill>
                  <a:srgbClr val="111827"/>
                </a:solidFill>
              </a:rPr>
              <a:t>github.com/Arunkumar06-cmd/risk-intelligence-copilot  •  arunkumar06-cmd.github.io/risk-intelligence-copilot (demo mode: sample data, runs in the browser)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69A1"/>
                </a:solidFill>
              </a:rPr>
              <a:t>▸ Run:   </a:t>
            </a:r>
            <a:r>
              <a:rPr sz="1800">
                <a:solidFill>
                  <a:srgbClr val="111827"/>
                </a:solidFill>
              </a:rPr>
              <a:t>pip install -r requirements.txt -r requirements-dev.txt → secrets.toml → sql/01 + sql/03 → streamlit run streamlit_app.py  •  tests: 102 passed.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lide6_Google Shape;85;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110000"/>
            <a:ext cx="7863840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00CBF8"/>
                </a:solidFill>
              </a:defRPr>
            </a:pPr>
            <a:r>
              <a:t>Risk, Fraud &amp; Regulatory Intelligence Copilot  •  Behelit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github.com/Arunkumar06-cmd/risk-intelligence-copilot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rPr sz="1400"/>
              <a:t>Live demo: arunkumar06-cmd.github.io/risk-intelligence-copilot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